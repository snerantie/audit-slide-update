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spPr>
            <a:ln w="31750">
              <a:solidFill>
                <a:srgbClr val="E60000"/>
              </a:solidFill>
            </a:ln>
          </c:spPr>
          <c:marker>
            <c:symbol val="circle"/>
            <c:size val="7"/>
            <c:spPr>
              <a:solidFill>
                <a:srgbClr val="E60000"/>
              </a:solidFill>
            </c:spPr>
          </c:marker>
          <c:cat>
            <c:strRef>
              <c:f>Sheet1!$A$2:$A$6</c:f>
              <c:strCache>
                <c:ptCount val="5"/>
                <c:pt idx="0">
                  <c:v>FY26 Q1</c:v>
                </c:pt>
                <c:pt idx="1">
                  <c:v>FY26 Q2</c:v>
                </c:pt>
                <c:pt idx="2">
                  <c:v>FY26 Q3</c:v>
                </c:pt>
                <c:pt idx="3">
                  <c:v>FY26 Q4</c:v>
                </c:pt>
                <c:pt idx="4">
                  <c:v>FY27 Q1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10</c:v>
                </c:pt>
                <c:pt idx="2">
                  <c:v>6</c:v>
                </c:pt>
                <c:pt idx="3">
                  <c:v>3</c:v>
                </c:pt>
                <c:pt idx="4">
                  <c:v>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 (cumulative)</c:v>
                </c:pt>
              </c:strCache>
            </c:strRef>
          </c:tx>
          <c:spPr>
            <a:ln w="31750">
              <a:solidFill>
                <a:srgbClr val="16A34A"/>
              </a:solidFill>
            </a:ln>
          </c:spPr>
          <c:marker>
            <c:symbol val="circle"/>
            <c:size val="7"/>
            <c:spPr>
              <a:solidFill>
                <a:srgbClr val="16A34A"/>
              </a:solidFill>
            </c:spPr>
          </c:marker>
          <c:cat>
            <c:strRef>
              <c:f>Sheet1!$A$2:$A$6</c:f>
              <c:strCache>
                <c:ptCount val="5"/>
                <c:pt idx="0">
                  <c:v>FY26 Q1</c:v>
                </c:pt>
                <c:pt idx="1">
                  <c:v>FY26 Q2</c:v>
                </c:pt>
                <c:pt idx="2">
                  <c:v>FY26 Q3</c:v>
                </c:pt>
                <c:pt idx="3">
                  <c:v>FY26 Q4</c:v>
                </c:pt>
                <c:pt idx="4">
                  <c:v>FY27 Q1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8</c:v>
                </c:pt>
                <c:pt idx="2">
                  <c:v>14</c:v>
                </c:pt>
                <c:pt idx="3">
                  <c:v>17</c:v>
                </c:pt>
                <c:pt idx="4">
                  <c:v>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Closed</c:v>
                </c:pt>
              </c:strCache>
            </c:strRef>
          </c:tx>
          <c:dPt>
            <c:idx val="0"/>
            <c:spPr>
              <a:solidFill>
                <a:srgbClr val="E60000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B30000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F59E0B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2563EB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0EA5E9"/>
              </a:solidFill>
              <a:ln w="19050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7C3AED"/>
              </a:solidFill>
              <a:ln w="19050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16A34A"/>
              </a:solidFill>
              <a:ln w="19050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64748B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Sheet1!$A$2:$A$9</c:f>
              <c:strCache>
                <c:ptCount val="8"/>
                <c:pt idx="0">
                  <c:v>FY26 Vodacom Insurance</c:v>
                </c:pt>
                <c:pt idx="1">
                  <c:v>FY26 Vodacom Life Assurance</c:v>
                </c:pt>
                <c:pt idx="2">
                  <c:v>FY26 Consumer Lending</c:v>
                </c:pt>
                <c:pt idx="3">
                  <c:v>FY25 Vodacom Insurance (VIC)</c:v>
                </c:pt>
                <c:pt idx="4">
                  <c:v>FY25 Data Protection</c:v>
                </c:pt>
                <c:pt idx="5">
                  <c:v>FY25 DevSecOps</c:v>
                </c:pt>
                <c:pt idx="6">
                  <c:v>FY25 Ransomware Recovery</c:v>
                </c:pt>
                <c:pt idx="7">
                  <c:v>FY25 Vodapay Products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</c:v>
                </c:pt>
                <c:pt idx="1">
                  <c:v>6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</c:v>
                </c:pt>
              </c:strCache>
            </c:strRef>
          </c:tx>
          <c:spPr>
            <a:solidFill>
              <a:srgbClr val="E60000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900">
                    <a:solidFill>
                      <a:srgbClr val="0B1F3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Audits</c:v>
                </c:pt>
                <c:pt idx="1">
                  <c:v>Remediations</c:v>
                </c:pt>
                <c:pt idx="2">
                  <c:v>Completed</c:v>
                </c:pt>
                <c:pt idx="3">
                  <c:v>Open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18</c:v>
                </c:pt>
                <c:pt idx="2">
                  <c:v>18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FY27 Q1</c:v>
                </c:pt>
              </c:strCache>
            </c:strRef>
          </c:tx>
          <c:spPr>
            <a:solidFill>
              <a:srgbClr val="2563EB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900">
                    <a:solidFill>
                      <a:srgbClr val="0B1F3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Audits</c:v>
                </c:pt>
                <c:pt idx="1">
                  <c:v>Remediations</c:v>
                </c:pt>
                <c:pt idx="2">
                  <c:v>Completed</c:v>
                </c:pt>
                <c:pt idx="3">
                  <c:v>Open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7</c:v>
                </c:pt>
                <c:pt idx="2">
                  <c:v>7</c:v>
                </c:pt>
                <c:pt idx="3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9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28016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E60000"/>
                </a:solidFill>
                <a:latin typeface="Calibri"/>
              </a:rPr>
              <a:t>VFS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| Audit Remediations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65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A8F"/>
                </a:solidFill>
                <a:latin typeface="Calibri"/>
              </a:rPr>
              <a:t>FY26 CLOSE-OUT &amp; FY27 OUTLOOK  ·  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4552" cy="9525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216712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2167128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133856"/>
            <a:ext cx="1837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A8F"/>
                </a:solidFill>
                <a:latin typeface="Calibri"/>
              </a:rPr>
              <a:t>COMPLETION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389888"/>
            <a:ext cx="1837944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>
                <a:solidFill>
                  <a:srgbClr val="0B1F3A"/>
                </a:solidFill>
                <a:latin typeface="Calibri"/>
              </a:rPr>
              <a:t>100</a:t>
            </a:r>
            <a:r>
              <a:rPr sz="2000" b="1">
                <a:solidFill>
                  <a:srgbClr val="6B7A8F"/>
                </a:solidFill>
                <a:latin typeface="Calibri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856232"/>
            <a:ext cx="1837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475B"/>
                </a:solidFill>
                <a:latin typeface="Calibri"/>
              </a:rPr>
              <a:t>FY26 formally closed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4056" y="1005840"/>
            <a:ext cx="216712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34056" y="1005840"/>
            <a:ext cx="2167128" cy="457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8648" y="1133856"/>
            <a:ext cx="1837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A8F"/>
                </a:solidFill>
                <a:latin typeface="Calibri"/>
              </a:rPr>
              <a:t>TOTAL REMEDIATIONS CLOSED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1389888"/>
            <a:ext cx="1837944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>
                <a:solidFill>
                  <a:srgbClr val="0B1F3A"/>
                </a:solidFill>
                <a:latin typeface="Calibri"/>
              </a:rPr>
              <a:t>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1856232"/>
            <a:ext cx="1837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475B"/>
                </a:solidFill>
                <a:latin typeface="Calibri"/>
              </a:rPr>
              <a:t>18 FY26  +  7 FY27 Q1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0912" y="1005840"/>
            <a:ext cx="216712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10912" y="1005840"/>
            <a:ext cx="2167128" cy="457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5504" y="1133856"/>
            <a:ext cx="1837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A8F"/>
                </a:solidFill>
                <a:latin typeface="Calibri"/>
              </a:rPr>
              <a:t>OPEN ITEMS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389888"/>
            <a:ext cx="1837944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1856232"/>
            <a:ext cx="1837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475B"/>
                </a:solidFill>
                <a:latin typeface="Calibri"/>
              </a:rPr>
              <a:t>No items carried forward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87768" y="1005840"/>
            <a:ext cx="216712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87768" y="1005840"/>
            <a:ext cx="2167128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1133856"/>
            <a:ext cx="1837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A8F"/>
                </a:solidFill>
                <a:latin typeface="Calibri"/>
              </a:rPr>
              <a:t>FY26 AUDITS DELIVERED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1389888"/>
            <a:ext cx="1837944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>
                <a:solidFill>
                  <a:srgbClr val="0B1F3A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1856232"/>
            <a:ext cx="1837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475B"/>
                </a:solidFill>
                <a:latin typeface="Calibri"/>
              </a:rPr>
              <a:t>1 FY26 audit still in progress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64624" y="1005840"/>
            <a:ext cx="216712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64624" y="1005840"/>
            <a:ext cx="2167128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9216" y="1133856"/>
            <a:ext cx="1837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A8F"/>
                </a:solidFill>
                <a:latin typeface="Calibri"/>
              </a:rPr>
              <a:t>FY27 Q1 AUDITS PLANNED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9216" y="1389888"/>
            <a:ext cx="1837944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1856232"/>
            <a:ext cx="1837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475B"/>
                </a:solidFill>
                <a:latin typeface="Calibri"/>
              </a:rPr>
              <a:t>1 currently in progress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2377440"/>
            <a:ext cx="366674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61104" y="2377440"/>
            <a:ext cx="366674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65008" y="2377440"/>
            <a:ext cx="366674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2487168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Remediation Burndown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2761488"/>
            <a:ext cx="3300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Open vs. cumulative Closed across FY26 -&gt; FY27 Q1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3984" y="2487168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Closed Remediations by Parent 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3984" y="2761488"/>
            <a:ext cx="3300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25 items across 8 audit streams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2487168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FY26 vs FY27 Q1 Delivery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2761488"/>
            <a:ext cx="3300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Planned vs. completed remediation actions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594360" y="3108960"/>
          <a:ext cx="3392424.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4398264.0" y="3108960"/>
          <a:ext cx="3392424.0" cy="2148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8202168.0" y="3108960"/>
          <a:ext cx="3392424.0" cy="2148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5" name="Rounded Rectangle 44"/>
          <p:cNvSpPr/>
          <p:nvPr/>
        </p:nvSpPr>
        <p:spPr>
          <a:xfrm>
            <a:off x="457200" y="5532120"/>
            <a:ext cx="273634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532120"/>
            <a:ext cx="45720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5641848"/>
            <a:ext cx="24071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Calibri"/>
              </a:rPr>
              <a:t>FY26 CLOSED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5916168"/>
            <a:ext cx="240715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75B"/>
                </a:solidFill>
                <a:latin typeface="Calibri"/>
              </a:rPr>
              <a:t>All 18 remediation actions delivered — 100% completion, zero carry-forward items.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03270" y="5532120"/>
            <a:ext cx="273634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03270" y="5532120"/>
            <a:ext cx="4572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67862" y="5641848"/>
            <a:ext cx="24071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Calibri"/>
              </a:rPr>
              <a:t>FY26 IN PROGRESS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67862" y="5916168"/>
            <a:ext cx="240715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75B"/>
                </a:solidFill>
                <a:latin typeface="Calibri"/>
              </a:rPr>
              <a:t>One FY26 audit remains in progress; findings will be reported on completion.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49340" y="5532120"/>
            <a:ext cx="273634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49340" y="5532120"/>
            <a:ext cx="45720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13932" y="5641848"/>
            <a:ext cx="24071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Calibri"/>
              </a:rPr>
              <a:t>FY27 PROGRAMME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13932" y="5916168"/>
            <a:ext cx="240715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75B"/>
                </a:solidFill>
                <a:latin typeface="Calibri"/>
              </a:rPr>
              <a:t>Four FY27 Q1 audits planned; one active. Remediations tracked under FY27 programme.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95410" y="5532120"/>
            <a:ext cx="273634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995410" y="5532120"/>
            <a:ext cx="45720" cy="105156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60002" y="5641848"/>
            <a:ext cx="24071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60000"/>
                </a:solidFill>
                <a:latin typeface="Calibri"/>
              </a:rPr>
              <a:t>CAPACITY NOTE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60002" y="5916168"/>
            <a:ext cx="240715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75B"/>
                </a:solidFill>
                <a:latin typeface="Calibri"/>
              </a:rPr>
              <a:t>Management actions factored into PI capacity and delivered within PI quarters.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